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60" r:id="rId3"/>
    <p:sldId id="258" r:id="rId4"/>
    <p:sldId id="257" r:id="rId5"/>
    <p:sldId id="259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56">
          <p15:clr>
            <a:srgbClr val="A4A3A4"/>
          </p15:clr>
        </p15:guide>
        <p15:guide id="2" pos="356">
          <p15:clr>
            <a:srgbClr val="A4A3A4"/>
          </p15:clr>
        </p15:guide>
        <p15:guide id="3" pos="3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8694" autoAdjust="0"/>
  </p:normalViewPr>
  <p:slideViewPr>
    <p:cSldViewPr snapToGrid="0">
      <p:cViewPr>
        <p:scale>
          <a:sx n="121" d="100"/>
          <a:sy n="121" d="100"/>
        </p:scale>
        <p:origin x="-690" y="1242"/>
      </p:cViewPr>
      <p:guideLst>
        <p:guide orient="horz" pos="256"/>
        <p:guide pos="356"/>
        <p:guide pos="3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pPr/>
              <a:t>8/4/2015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pPr/>
              <a:t>04-08-2015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448498" y="310506"/>
              <a:ext cx="226985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Coffee Shop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448498" y="316856"/>
              <a:ext cx="226985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Coffee Shop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xmlns="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448498" y="316856"/>
              <a:ext cx="226985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Coffee Shop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82600" y="20002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6" name="Text Placeholder 64"/>
          <p:cNvSpPr>
            <a:spLocks noGrp="1"/>
          </p:cNvSpPr>
          <p:nvPr>
            <p:ph type="body" sz="quarter" idx="20" hasCustomPrompt="1"/>
          </p:nvPr>
        </p:nvSpPr>
        <p:spPr>
          <a:xfrm>
            <a:off x="482600" y="54927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xmlns="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448498" y="316856"/>
              <a:ext cx="226985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Coffee Shop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xmlns="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448498" y="316856"/>
              <a:ext cx="226985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Coffee Shop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xmlns="" val="129952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Exchange personal information about the home and family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08000" y="7556500"/>
            <a:ext cx="2921000" cy="685800"/>
          </a:xfrm>
        </p:spPr>
        <p:txBody>
          <a:bodyPr/>
          <a:lstStyle/>
          <a:p>
            <a:r>
              <a:rPr lang="en-US" dirty="0"/>
              <a:t>How is your family?</a:t>
            </a:r>
          </a:p>
          <a:p>
            <a:r>
              <a:rPr lang="en-US" dirty="0"/>
              <a:t>Where are they now?</a:t>
            </a:r>
          </a:p>
          <a:p>
            <a:r>
              <a:rPr lang="en-US" dirty="0"/>
              <a:t>What are they doing?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talk about current actions.</a:t>
            </a:r>
          </a:p>
          <a:p>
            <a:r>
              <a:rPr lang="en-US" dirty="0"/>
              <a:t>I can talk about family.</a:t>
            </a:r>
          </a:p>
          <a:p>
            <a:r>
              <a:rPr lang="en-US" dirty="0"/>
              <a:t>I can ask who, what, when, where questions.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Who is he? Where is she? Let’s ask questions about family!</a:t>
            </a:r>
          </a:p>
        </p:txBody>
      </p:sp>
      <p:pic>
        <p:nvPicPr>
          <p:cNvPr id="7" name="Picture Placeholder 6" descr="DR1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-12374" r="-12374"/>
          <a:stretch>
            <a:fillRect/>
          </a:stretch>
        </p:blipFill>
        <p:spPr>
          <a:xfrm>
            <a:off x="1244599" y="3610827"/>
            <a:ext cx="4397375" cy="2574073"/>
          </a:xfrm>
        </p:spPr>
      </p:pic>
      <p:sp>
        <p:nvSpPr>
          <p:cNvPr id="8" name="Rectangle 7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What Is Your Family Doing?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197927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DR2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-6944" r="-6944"/>
          <a:stretch>
            <a:fillRect/>
          </a:stretch>
        </p:blipFill>
        <p:spPr>
          <a:xfrm>
            <a:off x="1295400" y="1913363"/>
            <a:ext cx="4520142" cy="2645937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tabLst>
                <a:tab pos="447675" algn="l"/>
              </a:tabLst>
            </a:pPr>
            <a:r>
              <a:rPr lang="en-CA" b="1" dirty="0"/>
              <a:t>Peter</a:t>
            </a:r>
            <a:r>
              <a:rPr lang="en-CA" dirty="0"/>
              <a:t>: </a:t>
            </a:r>
            <a:r>
              <a:rPr lang="en-CA" dirty="0" smtClean="0"/>
              <a:t>	So</a:t>
            </a:r>
            <a:r>
              <a:rPr lang="en-CA" dirty="0"/>
              <a:t>, Sally, how is your family? </a:t>
            </a:r>
          </a:p>
          <a:p>
            <a:pPr>
              <a:tabLst>
                <a:tab pos="447675" algn="l"/>
              </a:tabLst>
            </a:pPr>
            <a:r>
              <a:rPr lang="en-CA" b="1" dirty="0"/>
              <a:t>Sally</a:t>
            </a:r>
            <a:r>
              <a:rPr lang="en-CA" dirty="0"/>
              <a:t>: </a:t>
            </a:r>
            <a:r>
              <a:rPr lang="en-CA" dirty="0" smtClean="0"/>
              <a:t>		They </a:t>
            </a:r>
            <a:r>
              <a:rPr lang="en-CA" dirty="0"/>
              <a:t>are great, thanks. My mother is vacuuming today. It is so noisy, it’s </a:t>
            </a:r>
            <a:r>
              <a:rPr lang="en-CA" dirty="0" smtClean="0"/>
              <a:t>			quiet </a:t>
            </a:r>
            <a:r>
              <a:rPr lang="en-CA" dirty="0"/>
              <a:t>here. I need a quiet place to study for my Spanish class.</a:t>
            </a:r>
          </a:p>
          <a:p>
            <a:pPr>
              <a:tabLst>
                <a:tab pos="447675" algn="l"/>
              </a:tabLst>
            </a:pPr>
            <a:endParaRPr lang="en-CA" dirty="0" smtClean="0"/>
          </a:p>
          <a:p>
            <a:pPr>
              <a:tabLst>
                <a:tab pos="447675" algn="l"/>
              </a:tabLst>
            </a:pPr>
            <a:r>
              <a:rPr lang="en-CA" b="1" dirty="0" smtClean="0"/>
              <a:t>Peter</a:t>
            </a:r>
            <a:r>
              <a:rPr lang="en-CA" dirty="0"/>
              <a:t>: </a:t>
            </a:r>
            <a:r>
              <a:rPr lang="en-CA" dirty="0" smtClean="0"/>
              <a:t>	Where </a:t>
            </a:r>
            <a:r>
              <a:rPr lang="en-CA" dirty="0"/>
              <a:t>is your father? </a:t>
            </a:r>
          </a:p>
          <a:p>
            <a:pPr>
              <a:tabLst>
                <a:tab pos="447675" algn="l"/>
              </a:tabLst>
            </a:pPr>
            <a:r>
              <a:rPr lang="en-CA" b="1" dirty="0" smtClean="0"/>
              <a:t>Sally</a:t>
            </a:r>
            <a:r>
              <a:rPr lang="en-CA" dirty="0"/>
              <a:t>: </a:t>
            </a:r>
            <a:r>
              <a:rPr lang="en-CA" dirty="0" smtClean="0"/>
              <a:t>		He </a:t>
            </a:r>
            <a:r>
              <a:rPr lang="en-CA" dirty="0"/>
              <a:t>is at home. He is cooking dinner.</a:t>
            </a:r>
          </a:p>
          <a:p>
            <a:pPr>
              <a:tabLst>
                <a:tab pos="447675" algn="l"/>
              </a:tabLst>
            </a:pPr>
            <a:r>
              <a:rPr lang="en-CA" b="1" dirty="0"/>
              <a:t>Peter</a:t>
            </a:r>
            <a:r>
              <a:rPr lang="en-CA" dirty="0"/>
              <a:t>: </a:t>
            </a:r>
            <a:r>
              <a:rPr lang="en-CA" dirty="0" smtClean="0"/>
              <a:t>	When </a:t>
            </a:r>
            <a:r>
              <a:rPr lang="en-CA" dirty="0"/>
              <a:t>is dinner? </a:t>
            </a:r>
          </a:p>
          <a:p>
            <a:pPr>
              <a:tabLst>
                <a:tab pos="447675" algn="l"/>
              </a:tabLst>
            </a:pPr>
            <a:endParaRPr lang="en-CA" dirty="0" smtClean="0"/>
          </a:p>
          <a:p>
            <a:pPr>
              <a:tabLst>
                <a:tab pos="447675" algn="l"/>
              </a:tabLst>
            </a:pPr>
            <a:r>
              <a:rPr lang="en-CA" b="1" dirty="0" smtClean="0"/>
              <a:t>Sally</a:t>
            </a:r>
            <a:r>
              <a:rPr lang="en-CA" dirty="0"/>
              <a:t>: </a:t>
            </a:r>
            <a:r>
              <a:rPr lang="en-CA" dirty="0" smtClean="0"/>
              <a:t>		It’s </a:t>
            </a:r>
            <a:r>
              <a:rPr lang="en-CA" dirty="0"/>
              <a:t>at 7:00. Do you want to come?</a:t>
            </a:r>
          </a:p>
          <a:p>
            <a:pPr>
              <a:tabLst>
                <a:tab pos="447675" algn="l"/>
              </a:tabLst>
            </a:pPr>
            <a:r>
              <a:rPr lang="en-CA" b="1" dirty="0"/>
              <a:t>Peter</a:t>
            </a:r>
            <a:r>
              <a:rPr lang="en-CA" dirty="0"/>
              <a:t>: </a:t>
            </a:r>
            <a:r>
              <a:rPr lang="en-CA" dirty="0" smtClean="0"/>
              <a:t>	Sounds </a:t>
            </a:r>
            <a:r>
              <a:rPr lang="en-CA" dirty="0"/>
              <a:t>good! What are you studying? </a:t>
            </a:r>
          </a:p>
          <a:p>
            <a:pPr>
              <a:tabLst>
                <a:tab pos="447675" algn="l"/>
              </a:tabLst>
            </a:pPr>
            <a:endParaRPr lang="en-CA" dirty="0" smtClean="0"/>
          </a:p>
          <a:p>
            <a:pPr>
              <a:tabLst>
                <a:tab pos="447675" algn="l"/>
              </a:tabLst>
            </a:pPr>
            <a:r>
              <a:rPr lang="en-CA" b="1" dirty="0" smtClean="0"/>
              <a:t>Sally</a:t>
            </a:r>
            <a:r>
              <a:rPr lang="en-CA" dirty="0"/>
              <a:t>: </a:t>
            </a:r>
            <a:r>
              <a:rPr lang="en-CA" dirty="0" smtClean="0"/>
              <a:t>		I’m </a:t>
            </a:r>
            <a:r>
              <a:rPr lang="en-CA" dirty="0"/>
              <a:t>studying for my Spanish test and doing my homework.</a:t>
            </a:r>
          </a:p>
          <a:p>
            <a:pPr>
              <a:tabLst>
                <a:tab pos="447675" algn="l"/>
              </a:tabLst>
            </a:pPr>
            <a:r>
              <a:rPr lang="en-CA" b="1" dirty="0"/>
              <a:t>Peter</a:t>
            </a:r>
            <a:r>
              <a:rPr lang="en-CA" dirty="0"/>
              <a:t>: </a:t>
            </a:r>
            <a:r>
              <a:rPr lang="en-CA" dirty="0" smtClean="0"/>
              <a:t>	Yeah</a:t>
            </a:r>
            <a:r>
              <a:rPr lang="en-CA" dirty="0"/>
              <a:t>, I’m using the internet here.</a:t>
            </a:r>
          </a:p>
          <a:p>
            <a:pPr>
              <a:tabLst>
                <a:tab pos="447675" algn="l"/>
              </a:tabLst>
            </a:pPr>
            <a:r>
              <a:rPr lang="en-CA" b="1" dirty="0"/>
              <a:t>Sally</a:t>
            </a:r>
            <a:r>
              <a:rPr lang="en-CA" dirty="0"/>
              <a:t>: </a:t>
            </a:r>
            <a:r>
              <a:rPr lang="en-CA" dirty="0" smtClean="0"/>
              <a:t>		Nice </a:t>
            </a:r>
            <a:r>
              <a:rPr lang="en-CA" dirty="0"/>
              <a:t>computer! </a:t>
            </a:r>
          </a:p>
          <a:p>
            <a:pPr>
              <a:tabLst>
                <a:tab pos="447675" algn="l"/>
              </a:tabLst>
            </a:pPr>
            <a:endParaRPr lang="en-CA" dirty="0" smtClean="0"/>
          </a:p>
          <a:p>
            <a:pPr>
              <a:tabLst>
                <a:tab pos="447675" algn="l"/>
              </a:tabLst>
            </a:pPr>
            <a:r>
              <a:rPr lang="en-CA" b="1" dirty="0" smtClean="0"/>
              <a:t>Peter</a:t>
            </a:r>
            <a:r>
              <a:rPr lang="en-CA" dirty="0"/>
              <a:t>: </a:t>
            </a:r>
            <a:r>
              <a:rPr lang="en-CA" dirty="0" smtClean="0"/>
              <a:t>	Thanks</a:t>
            </a:r>
            <a:r>
              <a:rPr lang="en-CA" dirty="0"/>
              <a:t>! It’s from Stephen. It’s new.</a:t>
            </a:r>
          </a:p>
          <a:p>
            <a:pPr>
              <a:tabLst>
                <a:tab pos="447675" algn="l"/>
              </a:tabLst>
            </a:pPr>
            <a:r>
              <a:rPr lang="en-CA" b="1" dirty="0"/>
              <a:t>Sally</a:t>
            </a:r>
            <a:r>
              <a:rPr lang="en-CA" dirty="0"/>
              <a:t>: </a:t>
            </a:r>
            <a:r>
              <a:rPr lang="en-CA" dirty="0" smtClean="0"/>
              <a:t>		Who </a:t>
            </a:r>
            <a:r>
              <a:rPr lang="en-CA" dirty="0"/>
              <a:t>is Stephen? </a:t>
            </a:r>
          </a:p>
          <a:p>
            <a:pPr>
              <a:tabLst>
                <a:tab pos="447675" algn="l"/>
              </a:tabLst>
            </a:pPr>
            <a:endParaRPr lang="en-CA" dirty="0" smtClean="0"/>
          </a:p>
          <a:p>
            <a:pPr>
              <a:tabLst>
                <a:tab pos="447675" algn="l"/>
              </a:tabLst>
            </a:pPr>
            <a:r>
              <a:rPr lang="en-CA" b="1" dirty="0" smtClean="0"/>
              <a:t>Peter</a:t>
            </a:r>
            <a:r>
              <a:rPr lang="en-CA" dirty="0"/>
              <a:t>: </a:t>
            </a:r>
            <a:r>
              <a:rPr lang="en-CA" dirty="0" smtClean="0"/>
              <a:t>	My </a:t>
            </a:r>
            <a:r>
              <a:rPr lang="en-CA" dirty="0"/>
              <a:t>uncle. I’m writing notes for my Business class. </a:t>
            </a:r>
          </a:p>
          <a:p>
            <a:pPr>
              <a:tabLst>
                <a:tab pos="447675" algn="l"/>
              </a:tabLst>
            </a:pPr>
            <a:r>
              <a:rPr lang="en-CA" b="1" dirty="0"/>
              <a:t>Sally</a:t>
            </a:r>
            <a:r>
              <a:rPr lang="en-CA" dirty="0"/>
              <a:t>: </a:t>
            </a:r>
            <a:r>
              <a:rPr lang="en-CA" dirty="0" smtClean="0"/>
              <a:t>		Cool</a:t>
            </a:r>
            <a:r>
              <a:rPr lang="en-CA" dirty="0"/>
              <a:t>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469900" y="4679950"/>
            <a:ext cx="5848350" cy="228600"/>
          </a:xfrm>
        </p:spPr>
        <p:txBody>
          <a:bodyPr/>
          <a:lstStyle/>
          <a:p>
            <a:r>
              <a:rPr lang="en-CA" sz="1000" dirty="0" smtClean="0"/>
              <a:t>Instructions: Read the dialogue aloud.</a:t>
            </a:r>
            <a:endParaRPr lang="en-CA" sz="1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dirty="0"/>
              <a:t>Peter and Sally talk about family. What is Sally’s mother doing?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What Is Your Family Doing?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205665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9"/>
          </p:nvPr>
        </p:nvSpPr>
        <p:spPr>
          <a:xfrm>
            <a:off x="482600" y="1913494"/>
            <a:ext cx="5848350" cy="228600"/>
          </a:xfrm>
        </p:spPr>
        <p:txBody>
          <a:bodyPr/>
          <a:lstStyle/>
          <a:p>
            <a:r>
              <a:rPr lang="en-US" sz="1000" dirty="0" smtClean="0"/>
              <a:t>Instructions: Choose the correct answer.</a:t>
            </a:r>
            <a:endParaRPr lang="en-US" sz="1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69900" y="1644650"/>
            <a:ext cx="5861050" cy="412750"/>
          </a:xfrm>
        </p:spPr>
        <p:txBody>
          <a:bodyPr/>
          <a:lstStyle/>
          <a:p>
            <a:r>
              <a:rPr lang="en-US" dirty="0"/>
              <a:t>How is Sally's family?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482600" y="5384654"/>
            <a:ext cx="5848350" cy="228600"/>
          </a:xfrm>
        </p:spPr>
        <p:txBody>
          <a:bodyPr/>
          <a:lstStyle/>
          <a:p>
            <a:r>
              <a:rPr lang="en-US" sz="1000" dirty="0"/>
              <a:t>Instructions: Find and fix the mistake. Each sentence has one </a:t>
            </a:r>
            <a:r>
              <a:rPr lang="en-US" sz="1000" dirty="0" smtClean="0"/>
              <a:t>mistake.</a:t>
            </a:r>
            <a:endParaRPr lang="en-US" sz="1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What is your mother doing? What is your father doing?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2939" y="2229412"/>
            <a:ext cx="24317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>
              <a:buAutoNum type="arabicPeriod"/>
            </a:pPr>
            <a:r>
              <a:rPr lang="en-US" sz="1000" dirty="0" smtClean="0"/>
              <a:t>Peter asks Sally: </a:t>
            </a:r>
          </a:p>
          <a:p>
            <a:pPr marL="177800"/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A. How is your family? </a:t>
            </a:r>
          </a:p>
          <a:p>
            <a:pPr marL="177800"/>
            <a:r>
              <a:rPr lang="en-US" sz="1000" dirty="0" smtClean="0"/>
              <a:t>B. How are your family?</a:t>
            </a:r>
            <a:br>
              <a:rPr lang="en-US" sz="1000" dirty="0" smtClean="0"/>
            </a:br>
            <a:r>
              <a:rPr lang="en-US" sz="1000" dirty="0" smtClean="0"/>
              <a:t>C. How do your family?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endParaRPr lang="en-US" sz="1000" dirty="0"/>
          </a:p>
          <a:p>
            <a:r>
              <a:rPr lang="en-US" sz="1000" dirty="0" smtClean="0"/>
              <a:t>2. Sally says …</a:t>
            </a:r>
          </a:p>
          <a:p>
            <a:endParaRPr lang="en-US" sz="1000" dirty="0"/>
          </a:p>
          <a:p>
            <a:pPr marL="177800">
              <a:buAutoNum type="alphaUcPeriod"/>
            </a:pPr>
            <a:r>
              <a:rPr lang="en-US" sz="1000" dirty="0" smtClean="0"/>
              <a:t> They is great.</a:t>
            </a:r>
          </a:p>
          <a:p>
            <a:pPr marL="177800">
              <a:buAutoNum type="alphaUcPeriod"/>
            </a:pPr>
            <a:r>
              <a:rPr lang="en-US" sz="1000" dirty="0" smtClean="0"/>
              <a:t> They are great.</a:t>
            </a:r>
          </a:p>
          <a:p>
            <a:pPr marL="177800">
              <a:buAutoNum type="alphaUcPeriod"/>
            </a:pPr>
            <a:r>
              <a:rPr lang="en-US" sz="1000" dirty="0" smtClean="0"/>
              <a:t> They be great. 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3595563" y="2246692"/>
            <a:ext cx="24317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3. Sally’s father is …</a:t>
            </a:r>
          </a:p>
          <a:p>
            <a:pPr marL="177800"/>
            <a:endParaRPr lang="en-US" sz="1000" dirty="0"/>
          </a:p>
          <a:p>
            <a:pPr marL="177800">
              <a:buAutoNum type="alphaUcPeriod"/>
            </a:pPr>
            <a:r>
              <a:rPr lang="en-US" sz="1000" dirty="0" smtClean="0"/>
              <a:t> cooking dinner.</a:t>
            </a:r>
          </a:p>
          <a:p>
            <a:pPr marL="177800">
              <a:buAutoNum type="alphaUcPeriod"/>
            </a:pPr>
            <a:r>
              <a:rPr lang="en-US" sz="1000" dirty="0" smtClean="0"/>
              <a:t> cooking lunch. </a:t>
            </a:r>
          </a:p>
          <a:p>
            <a:pPr marL="177800">
              <a:buAutoNum type="alphaUcPeriod"/>
            </a:pPr>
            <a:r>
              <a:rPr lang="en-US" sz="1000" dirty="0" smtClean="0"/>
              <a:t> making breakfast.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407" y="5850536"/>
            <a:ext cx="506624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100" dirty="0" smtClean="0"/>
              <a:t>My mother are vacuuming today.</a:t>
            </a:r>
            <a:r>
              <a:rPr lang="en-US" sz="1100" dirty="0"/>
              <a:t> </a:t>
            </a:r>
            <a:r>
              <a:rPr lang="en-US" sz="1100" dirty="0" smtClean="0"/>
              <a:t>_______________________</a:t>
            </a:r>
            <a:br>
              <a:rPr lang="en-US" sz="1100" dirty="0" smtClean="0"/>
            </a:br>
            <a:endParaRPr lang="en-US" sz="1100" dirty="0" smtClean="0"/>
          </a:p>
          <a:p>
            <a:pPr marL="228600" indent="-228600">
              <a:buAutoNum type="arabicPeriod"/>
            </a:pPr>
            <a:r>
              <a:rPr lang="en-US" sz="1100" dirty="0" smtClean="0"/>
              <a:t>He is </a:t>
            </a:r>
            <a:r>
              <a:rPr lang="en-US" sz="1100" dirty="0"/>
              <a:t>c</a:t>
            </a:r>
            <a:r>
              <a:rPr lang="en-US" sz="1100" dirty="0" smtClean="0"/>
              <a:t>ook dinner.</a:t>
            </a:r>
            <a:r>
              <a:rPr lang="en-US" sz="1100" dirty="0"/>
              <a:t> </a:t>
            </a:r>
            <a:r>
              <a:rPr lang="en-US" sz="1100" dirty="0" smtClean="0"/>
              <a:t>_________________</a:t>
            </a:r>
          </a:p>
          <a:p>
            <a:endParaRPr lang="en-US" sz="1100" dirty="0" smtClean="0"/>
          </a:p>
          <a:p>
            <a:pPr marL="228600" indent="-228600">
              <a:buAutoNum type="arabicPeriod"/>
            </a:pPr>
            <a:r>
              <a:rPr lang="en-US" sz="1100" dirty="0" smtClean="0"/>
              <a:t>What are I studying?</a:t>
            </a:r>
            <a:r>
              <a:rPr lang="en-US" sz="1100" dirty="0"/>
              <a:t> </a:t>
            </a:r>
            <a:r>
              <a:rPr lang="en-US" sz="1100" dirty="0" smtClean="0"/>
              <a:t>____________________</a:t>
            </a:r>
          </a:p>
          <a:p>
            <a:endParaRPr lang="en-US" sz="1100" dirty="0" smtClean="0"/>
          </a:p>
          <a:p>
            <a:pPr marL="228600" indent="-228600">
              <a:buAutoNum type="arabicPeriod"/>
            </a:pPr>
            <a:r>
              <a:rPr lang="en-US" sz="1100" dirty="0" smtClean="0"/>
              <a:t>I’m study for my Spanish test and doing my homework.</a:t>
            </a:r>
            <a:r>
              <a:rPr lang="en-US" sz="1100" dirty="0"/>
              <a:t> </a:t>
            </a:r>
            <a:r>
              <a:rPr lang="en-US" sz="1100" dirty="0" smtClean="0"/>
              <a:t>_______</a:t>
            </a:r>
          </a:p>
          <a:p>
            <a:endParaRPr lang="en-US" sz="1100" dirty="0" smtClean="0"/>
          </a:p>
          <a:p>
            <a:pPr marL="228600" indent="-228600">
              <a:buAutoNum type="arabicPeriod"/>
            </a:pPr>
            <a:r>
              <a:rPr lang="en-US" sz="1100" dirty="0" smtClean="0"/>
              <a:t>You’re writing notes for my Business class. ____________</a:t>
            </a:r>
            <a:endParaRPr lang="en-US" sz="1100" dirty="0"/>
          </a:p>
        </p:txBody>
      </p:sp>
      <p:sp>
        <p:nvSpPr>
          <p:cNvPr id="9" name="Rectangle 8"/>
          <p:cNvSpPr/>
          <p:nvPr/>
        </p:nvSpPr>
        <p:spPr>
          <a:xfrm>
            <a:off x="1829780" y="212239"/>
            <a:ext cx="23199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What Is Your Family Doing?</a:t>
            </a:r>
          </a:p>
        </p:txBody>
      </p:sp>
    </p:spTree>
    <p:extLst>
      <p:ext uri="{BB962C8B-B14F-4D97-AF65-F5344CB8AC3E}">
        <p14:creationId xmlns:p14="http://schemas.microsoft.com/office/powerpoint/2010/main" xmlns="" val="1165253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b="1" dirty="0"/>
              <a:t>mother </a:t>
            </a:r>
            <a:r>
              <a:rPr lang="en-CA" dirty="0"/>
              <a:t>(noun</a:t>
            </a:r>
            <a:r>
              <a:rPr lang="en-CA" dirty="0" smtClean="0"/>
              <a:t>): </a:t>
            </a:r>
            <a:r>
              <a:rPr lang="en-CA" dirty="0"/>
              <a:t>female parent </a:t>
            </a:r>
            <a:br>
              <a:rPr lang="en-CA" dirty="0"/>
            </a:br>
            <a:r>
              <a:rPr lang="en-CA" dirty="0" smtClean="0"/>
              <a:t>e.g. My </a:t>
            </a:r>
            <a:r>
              <a:rPr lang="en-CA" dirty="0"/>
              <a:t>mother is a teacher. </a:t>
            </a:r>
          </a:p>
          <a:p>
            <a:r>
              <a:rPr lang="en-CA" b="1" dirty="0"/>
              <a:t>father</a:t>
            </a:r>
            <a:r>
              <a:rPr lang="en-CA" dirty="0"/>
              <a:t> (noun</a:t>
            </a:r>
            <a:r>
              <a:rPr lang="en-CA" dirty="0" smtClean="0"/>
              <a:t>): </a:t>
            </a:r>
            <a:r>
              <a:rPr lang="en-CA" dirty="0"/>
              <a:t>male parent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My </a:t>
            </a:r>
            <a:r>
              <a:rPr lang="en-CA" dirty="0"/>
              <a:t>father is a dentist. </a:t>
            </a:r>
            <a:endParaRPr lang="en-CA" dirty="0" smtClean="0"/>
          </a:p>
          <a:p>
            <a:r>
              <a:rPr lang="en-CA" b="1" dirty="0" smtClean="0"/>
              <a:t>to </a:t>
            </a:r>
            <a:r>
              <a:rPr lang="en-CA" b="1" dirty="0"/>
              <a:t>vacuum </a:t>
            </a:r>
            <a:r>
              <a:rPr lang="en-CA" dirty="0"/>
              <a:t>(verb</a:t>
            </a:r>
            <a:r>
              <a:rPr lang="en-CA" dirty="0" smtClean="0"/>
              <a:t>): </a:t>
            </a:r>
            <a:r>
              <a:rPr lang="en-CA" dirty="0"/>
              <a:t>to clean the floor and carpet with a machine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The </a:t>
            </a:r>
            <a:r>
              <a:rPr lang="en-CA" dirty="0"/>
              <a:t>floor is dirty, please vacuum it. </a:t>
            </a:r>
            <a:endParaRPr lang="en-CA" dirty="0" smtClean="0"/>
          </a:p>
          <a:p>
            <a:r>
              <a:rPr lang="en-CA" b="1" dirty="0" smtClean="0"/>
              <a:t>noisy</a:t>
            </a:r>
            <a:r>
              <a:rPr lang="en-CA" dirty="0" smtClean="0"/>
              <a:t> </a:t>
            </a:r>
            <a:r>
              <a:rPr lang="en-CA" dirty="0"/>
              <a:t>(adjective</a:t>
            </a:r>
            <a:r>
              <a:rPr lang="en-CA" dirty="0" smtClean="0"/>
              <a:t>): </a:t>
            </a:r>
            <a:r>
              <a:rPr lang="en-CA" dirty="0"/>
              <a:t>making a lot of noise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My </a:t>
            </a:r>
            <a:r>
              <a:rPr lang="en-CA" dirty="0"/>
              <a:t>house is too noisy. I study at the library. </a:t>
            </a:r>
            <a:endParaRPr lang="en-CA" dirty="0" smtClean="0"/>
          </a:p>
          <a:p>
            <a:r>
              <a:rPr lang="en-CA" b="1" dirty="0" smtClean="0"/>
              <a:t>quiet </a:t>
            </a:r>
            <a:r>
              <a:rPr lang="en-CA" dirty="0"/>
              <a:t>(adjective</a:t>
            </a:r>
            <a:r>
              <a:rPr lang="en-CA" dirty="0" smtClean="0"/>
              <a:t>): </a:t>
            </a:r>
            <a:r>
              <a:rPr lang="en-CA" dirty="0"/>
              <a:t>making no noise; not noisy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The </a:t>
            </a:r>
            <a:r>
              <a:rPr lang="en-CA" dirty="0"/>
              <a:t>library is quiet. I like to study there.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b="1" dirty="0"/>
              <a:t>place</a:t>
            </a:r>
            <a:r>
              <a:rPr lang="en-CA" dirty="0"/>
              <a:t> (noun</a:t>
            </a:r>
            <a:r>
              <a:rPr lang="en-CA" dirty="0" smtClean="0"/>
              <a:t>): </a:t>
            </a:r>
            <a:r>
              <a:rPr lang="en-CA" dirty="0"/>
              <a:t>location; area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The </a:t>
            </a:r>
            <a:r>
              <a:rPr lang="en-CA" dirty="0"/>
              <a:t>library is a nice place to study. It is quiet. </a:t>
            </a:r>
            <a:endParaRPr lang="en-CA" dirty="0" smtClean="0"/>
          </a:p>
          <a:p>
            <a:r>
              <a:rPr lang="en-CA" b="1" dirty="0" smtClean="0"/>
              <a:t>homework </a:t>
            </a:r>
            <a:r>
              <a:rPr lang="en-CA" dirty="0"/>
              <a:t>(noun</a:t>
            </a:r>
            <a:r>
              <a:rPr lang="en-CA" dirty="0" smtClean="0"/>
              <a:t>): student work to complete at home </a:t>
            </a:r>
            <a:br>
              <a:rPr lang="en-CA" dirty="0" smtClean="0"/>
            </a:br>
            <a:r>
              <a:rPr lang="en-CA" dirty="0"/>
              <a:t>e.g. </a:t>
            </a:r>
            <a:r>
              <a:rPr lang="en-CA" dirty="0" smtClean="0"/>
              <a:t>My homework is very difficult. </a:t>
            </a:r>
          </a:p>
          <a:p>
            <a:r>
              <a:rPr lang="en-CA" b="1" dirty="0" smtClean="0"/>
              <a:t>internet</a:t>
            </a:r>
            <a:r>
              <a:rPr lang="en-CA" dirty="0" smtClean="0"/>
              <a:t> (noun): a computer network of information </a:t>
            </a:r>
            <a:br>
              <a:rPr lang="en-CA" dirty="0" smtClean="0"/>
            </a:br>
            <a:r>
              <a:rPr lang="en-CA" dirty="0"/>
              <a:t>e.g. </a:t>
            </a:r>
            <a:r>
              <a:rPr lang="en-CA" dirty="0" smtClean="0"/>
              <a:t>The internet is fun to use. I learn a lot. </a:t>
            </a:r>
          </a:p>
          <a:p>
            <a:r>
              <a:rPr lang="en-CA" b="1" dirty="0" smtClean="0"/>
              <a:t>new</a:t>
            </a:r>
            <a:r>
              <a:rPr lang="en-CA" dirty="0" smtClean="0"/>
              <a:t> </a:t>
            </a:r>
            <a:r>
              <a:rPr lang="en-CA" dirty="0"/>
              <a:t>(adjective</a:t>
            </a:r>
            <a:r>
              <a:rPr lang="en-CA" dirty="0" smtClean="0"/>
              <a:t>): </a:t>
            </a:r>
            <a:r>
              <a:rPr lang="en-CA" dirty="0"/>
              <a:t>not old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My </a:t>
            </a:r>
            <a:r>
              <a:rPr lang="en-CA" dirty="0"/>
              <a:t>computer is new. </a:t>
            </a:r>
          </a:p>
          <a:p>
            <a:endParaRPr lang="en-CA" dirty="0"/>
          </a:p>
        </p:txBody>
      </p:sp>
      <p:sp>
        <p:nvSpPr>
          <p:cNvPr id="6" name="TextBox 4"/>
          <p:cNvSpPr txBox="1"/>
          <p:nvPr/>
        </p:nvSpPr>
        <p:spPr>
          <a:xfrm>
            <a:off x="524815" y="2558670"/>
            <a:ext cx="2910594" cy="189538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CA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Ask your partner 5 questions about each family </a:t>
            </a: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member.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/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Examples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: How is your mother? Where is your father? What is 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your 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brother 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doing?</a:t>
            </a:r>
            <a:endParaRPr lang="en-CA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lvl="0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  <a:buAutoNum type="alphaLcParenR" startAt="2"/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Write </a:t>
            </a:r>
            <a:r>
              <a:rPr lang="en-CA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the answers </a:t>
            </a: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in full sentences.</a:t>
            </a: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  <a:buAutoNum type="alphaLcParenR" startAt="2"/>
            </a:pPr>
            <a:endParaRPr lang="en-CA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  <a:buAutoNum type="alphaLcParenR" startAt="2"/>
            </a:pPr>
            <a:r>
              <a:rPr lang="en-CA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Present the information to your partner</a:t>
            </a: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.</a:t>
            </a:r>
          </a:p>
          <a:p>
            <a:pPr lvl="0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lvl="0" defTabSz="685800">
              <a:lnSpc>
                <a:spcPct val="90000"/>
              </a:lnSpc>
            </a:pPr>
            <a:endParaRPr lang="en-CA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lvl="0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</p:txBody>
      </p:sp>
      <p:grpSp>
        <p:nvGrpSpPr>
          <p:cNvPr id="7" name="Grupo 1"/>
          <p:cNvGrpSpPr/>
          <p:nvPr/>
        </p:nvGrpSpPr>
        <p:grpSpPr>
          <a:xfrm>
            <a:off x="3578918" y="2406283"/>
            <a:ext cx="2910781" cy="1892667"/>
            <a:chOff x="3448051" y="2431712"/>
            <a:chExt cx="2904574" cy="1888630"/>
          </a:xfrm>
        </p:grpSpPr>
        <p:grpSp>
          <p:nvGrpSpPr>
            <p:cNvPr id="8" name="Group 5"/>
            <p:cNvGrpSpPr/>
            <p:nvPr/>
          </p:nvGrpSpPr>
          <p:grpSpPr>
            <a:xfrm>
              <a:off x="5507177" y="2550329"/>
              <a:ext cx="701770" cy="1623620"/>
              <a:chOff x="5507177" y="6341645"/>
              <a:chExt cx="701770" cy="1623620"/>
            </a:xfrm>
          </p:grpSpPr>
          <p:sp>
            <p:nvSpPr>
              <p:cNvPr id="11" name="Shape 193"/>
              <p:cNvSpPr/>
              <p:nvPr/>
            </p:nvSpPr>
            <p:spPr>
              <a:xfrm>
                <a:off x="5507177" y="6341645"/>
                <a:ext cx="280800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Y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es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Shape 194"/>
              <p:cNvSpPr/>
              <p:nvPr/>
            </p:nvSpPr>
            <p:spPr>
              <a:xfrm>
                <a:off x="5928147" y="6348117"/>
                <a:ext cx="280800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N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o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Shape 200"/>
              <p:cNvSpPr/>
              <p:nvPr/>
            </p:nvSpPr>
            <p:spPr>
              <a:xfrm>
                <a:off x="5516805" y="6702850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4" name="Shape 201"/>
              <p:cNvSpPr/>
              <p:nvPr/>
            </p:nvSpPr>
            <p:spPr>
              <a:xfrm>
                <a:off x="5934497" y="6700878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" name="Shape 202"/>
              <p:cNvSpPr/>
              <p:nvPr/>
            </p:nvSpPr>
            <p:spPr>
              <a:xfrm>
                <a:off x="5514848" y="7169100"/>
                <a:ext cx="267919" cy="2658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" name="Shape 203"/>
              <p:cNvSpPr/>
              <p:nvPr/>
            </p:nvSpPr>
            <p:spPr>
              <a:xfrm>
                <a:off x="5934420" y="7167525"/>
                <a:ext cx="267919" cy="2658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7" name="Shape 204"/>
              <p:cNvSpPr/>
              <p:nvPr/>
            </p:nvSpPr>
            <p:spPr>
              <a:xfrm>
                <a:off x="5514557" y="7695265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8" name="Shape 205"/>
              <p:cNvSpPr/>
              <p:nvPr/>
            </p:nvSpPr>
            <p:spPr>
              <a:xfrm>
                <a:off x="5933102" y="7693727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9" name="Shape 225"/>
            <p:cNvSpPr/>
            <p:nvPr/>
          </p:nvSpPr>
          <p:spPr>
            <a:xfrm>
              <a:off x="3591738" y="2602735"/>
              <a:ext cx="1774107" cy="166612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685800">
                <a:buSzPct val="100000"/>
              </a:pPr>
              <a:r>
                <a:rPr 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/>
                  <a:cs typeface="Verdana"/>
                </a:rPr>
                <a:t>Self Assessment</a:t>
              </a:r>
            </a:p>
            <a:p>
              <a:pPr lvl="0" defTabSz="685800">
                <a:spcBef>
                  <a:spcPts val="1500"/>
                </a:spcBef>
                <a:buSzPct val="100000"/>
              </a:pPr>
              <a:r>
                <a:rPr lang="en-US" sz="1000" dirty="0">
                  <a:ea typeface="Myriad Pro"/>
                  <a:cs typeface="Verdana"/>
                  <a:sym typeface="Myriad Pro"/>
                </a:rPr>
                <a:t>I </a:t>
              </a:r>
              <a:r>
                <a:rPr lang="en-US" sz="1000" dirty="0" smtClean="0">
                  <a:ea typeface="Myriad Pro"/>
                  <a:cs typeface="Verdana"/>
                  <a:sym typeface="Myriad Pro"/>
                </a:rPr>
                <a:t>ask 5 questions about family.</a:t>
              </a:r>
            </a:p>
            <a:p>
              <a:pPr lvl="0" defTabSz="685800">
                <a:spcBef>
                  <a:spcPts val="1500"/>
                </a:spcBef>
                <a:buSzPct val="100000"/>
              </a:pPr>
              <a:r>
                <a:rPr lang="en-US" sz="1000" dirty="0">
                  <a:ea typeface="Myriad Pro"/>
                  <a:cs typeface="Verdana"/>
                  <a:sym typeface="Myriad Pro"/>
                </a:rPr>
                <a:t>I ask about 2 family members</a:t>
              </a:r>
              <a:r>
                <a:rPr lang="en-US" sz="1000" dirty="0" smtClean="0">
                  <a:ea typeface="Myriad Pro"/>
                  <a:cs typeface="Verdana"/>
                  <a:sym typeface="Myriad Pro"/>
                </a:rPr>
                <a:t>.</a:t>
              </a:r>
            </a:p>
            <a:p>
              <a:pPr lvl="0" defTabSz="685800">
                <a:spcBef>
                  <a:spcPts val="1500"/>
                </a:spcBef>
                <a:buSzPct val="100000"/>
              </a:pPr>
              <a:r>
                <a:rPr lang="en-US" sz="1000" dirty="0">
                  <a:ea typeface="Myriad Pro"/>
                  <a:cs typeface="Verdana"/>
                  <a:sym typeface="Myriad Pro"/>
                </a:rPr>
                <a:t>I </a:t>
              </a:r>
              <a:r>
                <a:rPr lang="en-US" sz="1000" dirty="0" smtClean="0">
                  <a:ea typeface="Myriad Pro"/>
                  <a:cs typeface="Verdana"/>
                  <a:sym typeface="Myriad Pro"/>
                </a:rPr>
                <a:t>talk about what people are doing.</a:t>
              </a:r>
              <a:endParaRPr lang="en-CA" sz="1000" dirty="0" smtClean="0">
                <a:ea typeface="Myriad Pro"/>
                <a:cs typeface="Verdana"/>
                <a:sym typeface="Myriad Pro"/>
              </a:endParaRPr>
            </a:p>
          </p:txBody>
        </p:sp>
        <p:sp>
          <p:nvSpPr>
            <p:cNvPr id="10" name="Rounded Rectangle 6"/>
            <p:cNvSpPr/>
            <p:nvPr/>
          </p:nvSpPr>
          <p:spPr>
            <a:xfrm>
              <a:off x="3448051" y="2431712"/>
              <a:ext cx="2904574" cy="1888630"/>
            </a:xfrm>
            <a:prstGeom prst="roundRect">
              <a:avLst>
                <a:gd name="adj" fmla="val 11375"/>
              </a:avLst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beve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19" name="Rectangle 3"/>
          <p:cNvSpPr/>
          <p:nvPr/>
        </p:nvSpPr>
        <p:spPr>
          <a:xfrm>
            <a:off x="476309" y="1619910"/>
            <a:ext cx="4787485" cy="5693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cs typeface="Verdana"/>
              </a:rPr>
              <a:t>Interview your partner about their family members!</a:t>
            </a:r>
            <a:endParaRPr lang="en-US" sz="1100" dirty="0">
              <a:latin typeface="Verdana"/>
              <a:cs typeface="Verdana"/>
            </a:endParaRPr>
          </a:p>
          <a:p>
            <a:pPr algn="l" rtl="0"/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 rtl="0"/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Instructions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Complete the following steps. Fill in the Self Assessment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CA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What Is Your Family Doing?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43195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CA" b="1" dirty="0"/>
              <a:t>Asking </a:t>
            </a:r>
            <a:r>
              <a:rPr lang="en-CA" b="1" dirty="0" err="1"/>
              <a:t>Wh</a:t>
            </a:r>
            <a:r>
              <a:rPr lang="en-CA" b="1" dirty="0"/>
              <a:t>-Questions</a:t>
            </a:r>
          </a:p>
          <a:p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69899" y="1889760"/>
            <a:ext cx="4393353" cy="609600"/>
          </a:xfrm>
        </p:spPr>
        <p:txBody>
          <a:bodyPr/>
          <a:lstStyle/>
          <a:p>
            <a:r>
              <a:rPr lang="en-CA" dirty="0"/>
              <a:t>You use </a:t>
            </a:r>
            <a:r>
              <a:rPr lang="en-CA" dirty="0" err="1"/>
              <a:t>Wh</a:t>
            </a:r>
            <a:r>
              <a:rPr lang="en-CA" dirty="0"/>
              <a:t>-question words to get specific information. 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474134" y="5020350"/>
            <a:ext cx="5226050" cy="412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/>
              <a:t>The Present Continuous Tense - He, She</a:t>
            </a:r>
          </a:p>
          <a:p>
            <a:endParaRPr lang="en-CA" dirty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74133" y="5354360"/>
            <a:ext cx="5024967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You use the Present Continuous </a:t>
            </a:r>
            <a:r>
              <a:rPr lang="en-CA" dirty="0" smtClean="0"/>
              <a:t>tense </a:t>
            </a:r>
            <a:r>
              <a:rPr lang="en-CA" dirty="0"/>
              <a:t>to talk about current actions; things that are happening NOW</a:t>
            </a:r>
            <a:r>
              <a:rPr lang="en-CA" dirty="0" smtClean="0"/>
              <a:t>.</a:t>
            </a:r>
          </a:p>
          <a:p>
            <a:endParaRPr lang="en-CA" dirty="0"/>
          </a:p>
          <a:p>
            <a:endParaRPr lang="en-CA" dirty="0" smtClean="0"/>
          </a:p>
          <a:p>
            <a:endParaRPr lang="en-CA" dirty="0"/>
          </a:p>
          <a:p>
            <a:endParaRPr lang="en-CA" dirty="0" smtClean="0"/>
          </a:p>
          <a:p>
            <a:endParaRPr lang="en-CA" dirty="0"/>
          </a:p>
          <a:p>
            <a:endParaRPr lang="en-CA" dirty="0" smtClean="0"/>
          </a:p>
          <a:p>
            <a:endParaRPr lang="en-CA" dirty="0"/>
          </a:p>
          <a:p>
            <a:endParaRPr lang="en-CA" dirty="0" smtClean="0"/>
          </a:p>
          <a:p>
            <a:r>
              <a:rPr lang="en-CA" dirty="0"/>
              <a:t>Remember, to ask questions, you use the phrases: </a:t>
            </a:r>
            <a:endParaRPr lang="en-CA" dirty="0" smtClean="0"/>
          </a:p>
          <a:p>
            <a:endParaRPr lang="en-CA" dirty="0"/>
          </a:p>
          <a:p>
            <a:r>
              <a:rPr lang="en-CA" dirty="0"/>
              <a:t>What is he doing? </a:t>
            </a:r>
            <a:br>
              <a:rPr lang="en-CA" dirty="0"/>
            </a:br>
            <a:r>
              <a:rPr lang="en-CA" dirty="0"/>
              <a:t>What is your mother doing? </a:t>
            </a:r>
            <a:br>
              <a:rPr lang="en-CA" dirty="0"/>
            </a:br>
            <a:r>
              <a:rPr lang="en-CA" dirty="0"/>
              <a:t>What are you studying? </a:t>
            </a:r>
          </a:p>
          <a:p>
            <a:endParaRPr lang="en-CA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09670417"/>
              </p:ext>
            </p:extLst>
          </p:nvPr>
        </p:nvGraphicFramePr>
        <p:xfrm>
          <a:off x="660400" y="2411307"/>
          <a:ext cx="5604932" cy="1955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2935"/>
                <a:gridCol w="2003245"/>
                <a:gridCol w="1948752"/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000" b="1" dirty="0"/>
                        <a:t>Question word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b="1"/>
                        <a:t>Use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b="1" dirty="0"/>
                        <a:t>Example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sz="1000"/>
                        <a:t>What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000"/>
                        <a:t>To ask about a thing (to match the others)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000" b="1" dirty="0" smtClean="0"/>
                        <a:t>Sam</a:t>
                      </a:r>
                      <a:r>
                        <a:rPr lang="en-CA" sz="1000" dirty="0" smtClean="0"/>
                        <a:t>: </a:t>
                      </a:r>
                      <a:r>
                        <a:rPr lang="en-CA" sz="1000" dirty="0"/>
                        <a:t>What is that? </a:t>
                      </a:r>
                      <a:br>
                        <a:rPr lang="en-CA" sz="1000" dirty="0"/>
                      </a:br>
                      <a:r>
                        <a:rPr lang="en-CA" sz="1000" b="1" dirty="0" smtClean="0"/>
                        <a:t>Peter</a:t>
                      </a:r>
                      <a:r>
                        <a:rPr lang="en-CA" sz="1000" dirty="0" smtClean="0"/>
                        <a:t>: </a:t>
                      </a:r>
                      <a:r>
                        <a:rPr lang="en-CA" sz="1000" dirty="0"/>
                        <a:t>It’s my computer. 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sz="1000"/>
                        <a:t>Where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000" dirty="0"/>
                        <a:t>To ask about a place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000" b="1" dirty="0"/>
                        <a:t>Tim</a:t>
                      </a:r>
                      <a:r>
                        <a:rPr lang="en-CA" sz="1000" dirty="0"/>
                        <a:t>: Where is your father?</a:t>
                      </a:r>
                      <a:br>
                        <a:rPr lang="en-CA" sz="1000" dirty="0"/>
                      </a:br>
                      <a:r>
                        <a:rPr lang="en-CA" sz="1000" b="1" dirty="0" smtClean="0"/>
                        <a:t>Sue</a:t>
                      </a:r>
                      <a:r>
                        <a:rPr lang="en-CA" sz="1000" dirty="0" smtClean="0"/>
                        <a:t>: </a:t>
                      </a:r>
                      <a:r>
                        <a:rPr lang="en-CA" sz="1000" dirty="0"/>
                        <a:t>He is at home. 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sz="1000"/>
                        <a:t>Who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000" dirty="0"/>
                        <a:t>To ask about a person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000" b="1" dirty="0"/>
                        <a:t>Sara</a:t>
                      </a:r>
                      <a:r>
                        <a:rPr lang="en-CA" sz="1000" dirty="0"/>
                        <a:t>: Who is he?</a:t>
                      </a:r>
                      <a:br>
                        <a:rPr lang="en-CA" sz="1000" dirty="0"/>
                      </a:br>
                      <a:r>
                        <a:rPr lang="en-CA" sz="1000" b="1" dirty="0" smtClean="0"/>
                        <a:t>Ron</a:t>
                      </a:r>
                      <a:r>
                        <a:rPr lang="en-CA" sz="1000" dirty="0" smtClean="0"/>
                        <a:t>: </a:t>
                      </a:r>
                      <a:r>
                        <a:rPr lang="en-CA" sz="1000" dirty="0"/>
                        <a:t>He is my brother. 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sz="1000"/>
                        <a:t>When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000"/>
                        <a:t>To ask about a time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000" b="1" dirty="0"/>
                        <a:t>Paul</a:t>
                      </a:r>
                      <a:r>
                        <a:rPr lang="en-CA" sz="1000" dirty="0"/>
                        <a:t>: When is dinner? </a:t>
                      </a:r>
                      <a:br>
                        <a:rPr lang="en-CA" sz="1000" dirty="0"/>
                      </a:br>
                      <a:r>
                        <a:rPr lang="en-CA" sz="1000" b="1" dirty="0" smtClean="0"/>
                        <a:t>Sally</a:t>
                      </a:r>
                      <a:r>
                        <a:rPr lang="en-CA" sz="1000" dirty="0" smtClean="0"/>
                        <a:t>: </a:t>
                      </a:r>
                      <a:r>
                        <a:rPr lang="en-CA" sz="1000" dirty="0"/>
                        <a:t>It's at 7:00. 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94432033"/>
              </p:ext>
            </p:extLst>
          </p:nvPr>
        </p:nvGraphicFramePr>
        <p:xfrm>
          <a:off x="1140884" y="5930288"/>
          <a:ext cx="4572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000" b="1" dirty="0"/>
                        <a:t>Subject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b="1" dirty="0"/>
                        <a:t>To be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b="1" dirty="0"/>
                        <a:t>Verb-</a:t>
                      </a:r>
                      <a:r>
                        <a:rPr lang="en-CA" sz="1000" b="1" dirty="0" err="1"/>
                        <a:t>ing</a:t>
                      </a:r>
                      <a:r>
                        <a:rPr lang="en-CA" sz="1000" b="1" dirty="0"/>
                        <a:t>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sz="1000"/>
                        <a:t>He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000"/>
                        <a:t>is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000"/>
                        <a:t>cooking dinner. 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sz="1000"/>
                        <a:t>She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000"/>
                        <a:t>is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000" dirty="0"/>
                        <a:t>vacuuming. 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What Is Your Family Doing?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2456749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="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382</Words>
  <Application>Microsoft Macintosh PowerPoint</Application>
  <PresentationFormat>On-screen Show (4:3)</PresentationFormat>
  <Paragraphs>123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sumi akhter</cp:lastModifiedBy>
  <cp:revision>135</cp:revision>
  <cp:lastPrinted>2015-07-16T15:48:24Z</cp:lastPrinted>
  <dcterms:created xsi:type="dcterms:W3CDTF">2015-07-06T14:08:02Z</dcterms:created>
  <dcterms:modified xsi:type="dcterms:W3CDTF">2015-08-04T13:52:00Z</dcterms:modified>
</cp:coreProperties>
</file>