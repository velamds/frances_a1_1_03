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9" r:id="rId5"/>
    <p:sldId id="258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 varScale="1">
        <p:scale>
          <a:sx n="88" d="100"/>
          <a:sy n="88" d="100"/>
        </p:scale>
        <p:origin x="2904" y="90"/>
      </p:cViewPr>
      <p:guideLst>
        <p:guide orient="horz" pos="256"/>
        <p:guide pos="3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07-08-2015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448498" y="31050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448498" y="316856"/>
              <a:ext cx="2269852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At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Coffee Shop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DR1.jpg"/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508" r="-36508" b="5143"/>
          <a:stretch/>
        </p:blipFill>
        <p:spPr>
          <a:xfrm>
            <a:off x="1015472" y="3505201"/>
            <a:ext cx="5062359" cy="2810932"/>
          </a:xfrm>
        </p:spPr>
      </p:pic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Exchange personal information about the home and family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08000" y="7556500"/>
            <a:ext cx="2921000" cy="685800"/>
          </a:xfrm>
        </p:spPr>
        <p:txBody>
          <a:bodyPr/>
          <a:lstStyle/>
          <a:p>
            <a:r>
              <a:rPr lang="en-US" dirty="0"/>
              <a:t>Do you like sports?</a:t>
            </a:r>
          </a:p>
          <a:p>
            <a:r>
              <a:rPr lang="en-US" dirty="0"/>
              <a:t>What is your favorite sport?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say and use words with the short u sound.</a:t>
            </a:r>
          </a:p>
          <a:p>
            <a:r>
              <a:rPr lang="en-US" dirty="0"/>
              <a:t>I can ask questions with a falling and rising voice.</a:t>
            </a:r>
          </a:p>
          <a:p>
            <a:r>
              <a:rPr lang="en-US" dirty="0"/>
              <a:t>I can say what I like or dislike.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Pronunciation Spot: Peter and Sally talk at the coffee shop. We learn more about their families.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40316" y="209034"/>
            <a:ext cx="3021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Are You Going Too? All These Choices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79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DR2.jpg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152" r="-17152"/>
          <a:stretch>
            <a:fillRect/>
          </a:stretch>
        </p:blipFill>
        <p:spPr>
          <a:xfrm>
            <a:off x="1251655" y="2065864"/>
            <a:ext cx="4223455" cy="2472266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76250" y="5337545"/>
            <a:ext cx="5842000" cy="2345513"/>
          </a:xfrm>
        </p:spPr>
        <p:txBody>
          <a:bodyPr/>
          <a:lstStyle/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I </a:t>
            </a:r>
            <a:r>
              <a:rPr lang="en-CA" dirty="0"/>
              <a:t>want a coffee, how about you? Are you hungry?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Sure</a:t>
            </a:r>
            <a:r>
              <a:rPr lang="en-CA" dirty="0"/>
              <a:t>! A cappuccino, please. I’m not hungry.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Do </a:t>
            </a:r>
            <a:r>
              <a:rPr lang="en-CA" dirty="0"/>
              <a:t>you like your cappuccino in a cup or a mug?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A </a:t>
            </a:r>
            <a:r>
              <a:rPr lang="en-CA" dirty="0"/>
              <a:t>mug, thanks. There is a long lineup. Wait a couple minutes.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Ok.</a:t>
            </a:r>
            <a:r>
              <a:rPr lang="en-CA" dirty="0"/>
              <a:t>.. so, does your family like sports? My family hates sports.</a:t>
            </a:r>
          </a:p>
          <a:p>
            <a:pPr>
              <a:tabLst>
                <a:tab pos="446088" algn="l"/>
                <a:tab pos="808038" algn="l"/>
              </a:tabLst>
            </a:pPr>
            <a:endParaRPr lang="en-CA" dirty="0" smtClean="0"/>
          </a:p>
          <a:p>
            <a:pPr>
              <a:tabLst>
                <a:tab pos="446088" algn="l"/>
                <a:tab pos="808038" algn="l"/>
              </a:tabLst>
            </a:pPr>
            <a:endParaRPr lang="en-CA" dirty="0" smtClean="0"/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Yes</a:t>
            </a:r>
            <a:r>
              <a:rPr lang="en-CA" dirty="0"/>
              <a:t>, my dad really likes sports. He is a good football player. My mom </a:t>
            </a:r>
            <a:r>
              <a:rPr lang="en-CA" dirty="0" smtClean="0"/>
              <a:t>			doesn’t like </a:t>
            </a:r>
            <a:r>
              <a:rPr lang="en-CA" dirty="0"/>
              <a:t>it when he watches football on TV.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What </a:t>
            </a:r>
            <a:r>
              <a:rPr lang="en-CA" dirty="0"/>
              <a:t>about you?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I </a:t>
            </a:r>
            <a:r>
              <a:rPr lang="en-CA" dirty="0"/>
              <a:t>like tennis. It’s my favorite sport. I play on Thursdays. And you?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Sally</a:t>
            </a:r>
            <a:r>
              <a:rPr lang="en-CA" dirty="0" smtClean="0"/>
              <a:t>: 	I </a:t>
            </a:r>
            <a:r>
              <a:rPr lang="en-CA" dirty="0"/>
              <a:t>do yoga in the park. Look, the line is short now.</a:t>
            </a:r>
          </a:p>
          <a:p>
            <a:pPr>
              <a:tabLst>
                <a:tab pos="446088" algn="l"/>
                <a:tab pos="808038" algn="l"/>
              </a:tabLst>
            </a:pPr>
            <a:r>
              <a:rPr lang="en-CA" b="1" dirty="0" smtClean="0"/>
              <a:t>Peter</a:t>
            </a:r>
            <a:r>
              <a:rPr lang="en-CA" dirty="0" smtClean="0"/>
              <a:t>: 	Ah </a:t>
            </a:r>
            <a:r>
              <a:rPr lang="en-CA" dirty="0"/>
              <a:t>great, I’ll get in line.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469900" y="4900078"/>
            <a:ext cx="5848350" cy="228600"/>
          </a:xfrm>
        </p:spPr>
        <p:txBody>
          <a:bodyPr/>
          <a:lstStyle/>
          <a:p>
            <a:r>
              <a:rPr lang="en-CA" sz="1000" dirty="0" smtClean="0"/>
              <a:t>Instructions: Read the dialogue aloud.</a:t>
            </a:r>
            <a:endParaRPr lang="en-CA" sz="1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Peter and Sally talk at the coffee shop about sports.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0316" y="209034"/>
            <a:ext cx="3021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Are You Going Too? All These Choices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29293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>
          <a:xfrm>
            <a:off x="482600" y="1779514"/>
            <a:ext cx="5848350" cy="228600"/>
          </a:xfrm>
        </p:spPr>
        <p:txBody>
          <a:bodyPr/>
          <a:lstStyle/>
          <a:p>
            <a:r>
              <a:rPr lang="en-CA" dirty="0"/>
              <a:t>Instructions: Match the </a:t>
            </a:r>
            <a:r>
              <a:rPr lang="en-CA" u="sng" dirty="0"/>
              <a:t>question or statement</a:t>
            </a:r>
            <a:r>
              <a:rPr lang="en-CA" dirty="0"/>
              <a:t> on the left with the </a:t>
            </a:r>
            <a:r>
              <a:rPr lang="en-CA" u="sng" dirty="0"/>
              <a:t>response</a:t>
            </a:r>
            <a:r>
              <a:rPr lang="en-CA" dirty="0"/>
              <a:t> </a:t>
            </a:r>
            <a:r>
              <a:rPr lang="en-CA" dirty="0" smtClean="0"/>
              <a:t>on</a:t>
            </a:r>
          </a:p>
          <a:p>
            <a:r>
              <a:rPr lang="en-CA" dirty="0" smtClean="0"/>
              <a:t>the </a:t>
            </a:r>
            <a:r>
              <a:rPr lang="en-CA" dirty="0"/>
              <a:t>right.  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dirty="0"/>
              <a:t>Do you know Peter and Sally’s likes and </a:t>
            </a:r>
            <a:r>
              <a:rPr lang="en-CA" dirty="0" smtClean="0"/>
              <a:t>dislikes*?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CA" dirty="0" smtClean="0"/>
              <a:t>Instructions: Write </a:t>
            </a:r>
            <a:r>
              <a:rPr lang="en-CA" dirty="0"/>
              <a:t>each word in the correct category.</a:t>
            </a:r>
          </a:p>
          <a:p>
            <a:r>
              <a:rPr lang="en-CA" dirty="0"/>
              <a:t/>
            </a:r>
            <a:br>
              <a:rPr lang="en-CA" dirty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CA" dirty="0"/>
              <a:t>Can you select the words with the short u sound?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840316" y="209034"/>
            <a:ext cx="3021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Are You Going Too? All These Choices</a:t>
            </a:r>
            <a:endParaRPr lang="en-US" sz="1000" dirty="0"/>
          </a:p>
        </p:txBody>
      </p:sp>
      <p:sp>
        <p:nvSpPr>
          <p:cNvPr id="7" name="Rectangle 6"/>
          <p:cNvSpPr/>
          <p:nvPr/>
        </p:nvSpPr>
        <p:spPr>
          <a:xfrm>
            <a:off x="469900" y="2284993"/>
            <a:ext cx="598589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100" dirty="0" smtClean="0">
                <a:solidFill>
                  <a:srgbClr val="000000"/>
                </a:solidFill>
              </a:rPr>
              <a:t>1. What </a:t>
            </a:r>
            <a:r>
              <a:rPr lang="en-CA" sz="1100" dirty="0">
                <a:solidFill>
                  <a:srgbClr val="000000"/>
                </a:solidFill>
              </a:rPr>
              <a:t>about </a:t>
            </a:r>
            <a:r>
              <a:rPr lang="en-CA" sz="1100" dirty="0" smtClean="0">
                <a:solidFill>
                  <a:srgbClr val="000000"/>
                </a:solidFill>
              </a:rPr>
              <a:t>you?                                     A. Yes, my father really likes sports.</a:t>
            </a:r>
          </a:p>
          <a:p>
            <a:endParaRPr lang="en-CA" sz="1100" dirty="0"/>
          </a:p>
          <a:p>
            <a:r>
              <a:rPr lang="en-CA" sz="1100" dirty="0" smtClean="0">
                <a:solidFill>
                  <a:srgbClr val="000000"/>
                </a:solidFill>
              </a:rPr>
              <a:t>2. Do </a:t>
            </a:r>
            <a:r>
              <a:rPr lang="en-CA" sz="1100" dirty="0">
                <a:solidFill>
                  <a:srgbClr val="000000"/>
                </a:solidFill>
              </a:rPr>
              <a:t>you like your </a:t>
            </a:r>
            <a:r>
              <a:rPr lang="en-CA" sz="1100" dirty="0"/>
              <a:t>coffee in a cup or a mug</a:t>
            </a:r>
            <a:r>
              <a:rPr lang="en-CA" sz="1100" dirty="0" smtClean="0"/>
              <a:t>?</a:t>
            </a:r>
            <a:r>
              <a:rPr lang="en-CA" sz="1100" dirty="0" smtClean="0">
                <a:solidFill>
                  <a:srgbClr val="000000"/>
                </a:solidFill>
              </a:rPr>
              <a:t>     B. No, my mom doesn’t like it.</a:t>
            </a:r>
          </a:p>
          <a:p>
            <a:endParaRPr lang="en-CA" sz="1100" dirty="0"/>
          </a:p>
          <a:p>
            <a:r>
              <a:rPr lang="en-CA" sz="1100" dirty="0" smtClean="0">
                <a:solidFill>
                  <a:srgbClr val="000000"/>
                </a:solidFill>
              </a:rPr>
              <a:t>3. Does </a:t>
            </a:r>
            <a:r>
              <a:rPr lang="en-CA" sz="1100" dirty="0">
                <a:solidFill>
                  <a:srgbClr val="000000"/>
                </a:solidFill>
              </a:rPr>
              <a:t>your family like sports</a:t>
            </a:r>
            <a:r>
              <a:rPr lang="en-CA" sz="1100" dirty="0" smtClean="0">
                <a:solidFill>
                  <a:srgbClr val="000000"/>
                </a:solidFill>
              </a:rPr>
              <a:t>?                         C. I like sports.</a:t>
            </a:r>
            <a:endParaRPr lang="en-CA" sz="1100" dirty="0">
              <a:solidFill>
                <a:srgbClr val="000000"/>
              </a:solidFill>
            </a:endParaRPr>
          </a:p>
          <a:p>
            <a:endParaRPr lang="en-CA" sz="1100" dirty="0"/>
          </a:p>
          <a:p>
            <a:r>
              <a:rPr lang="en-CA" sz="1100" dirty="0" smtClean="0">
                <a:solidFill>
                  <a:srgbClr val="000000"/>
                </a:solidFill>
              </a:rPr>
              <a:t>4. I </a:t>
            </a:r>
            <a:r>
              <a:rPr lang="en-CA" sz="1100" dirty="0">
                <a:solidFill>
                  <a:srgbClr val="000000"/>
                </a:solidFill>
              </a:rPr>
              <a:t>want another coffee, how about you</a:t>
            </a:r>
            <a:r>
              <a:rPr lang="en-CA" sz="1100" dirty="0" smtClean="0">
                <a:solidFill>
                  <a:srgbClr val="000000"/>
                </a:solidFill>
              </a:rPr>
              <a:t>?           D. Sure</a:t>
            </a:r>
            <a:r>
              <a:rPr lang="en-CA" sz="1100" dirty="0">
                <a:solidFill>
                  <a:srgbClr val="000000"/>
                </a:solidFill>
              </a:rPr>
              <a:t>! A cappuccino please</a:t>
            </a:r>
            <a:r>
              <a:rPr lang="en-CA" sz="1100" dirty="0" smtClean="0">
                <a:solidFill>
                  <a:srgbClr val="000000"/>
                </a:solidFill>
              </a:rPr>
              <a:t>.</a:t>
            </a:r>
          </a:p>
          <a:p>
            <a:endParaRPr lang="en-CA" sz="1100" dirty="0"/>
          </a:p>
          <a:p>
            <a:r>
              <a:rPr lang="en-CA" sz="1100" dirty="0" smtClean="0">
                <a:solidFill>
                  <a:srgbClr val="000000"/>
                </a:solidFill>
              </a:rPr>
              <a:t>5. Does </a:t>
            </a:r>
            <a:r>
              <a:rPr lang="en-CA" sz="1100" dirty="0">
                <a:solidFill>
                  <a:srgbClr val="000000"/>
                </a:solidFill>
              </a:rPr>
              <a:t>she like to watch </a:t>
            </a:r>
            <a:r>
              <a:rPr lang="en-CA" sz="1100" dirty="0" smtClean="0">
                <a:solidFill>
                  <a:srgbClr val="000000"/>
                </a:solidFill>
              </a:rPr>
              <a:t>football?                     E. A mug, thanks.</a:t>
            </a:r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3958075" y="3989479"/>
            <a:ext cx="3429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 smtClean="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To 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say no politely, you can say:</a:t>
            </a:r>
            <a:endParaRPr lang="en-CA" sz="1100" dirty="0"/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No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, thank you.</a:t>
            </a:r>
            <a:endParaRPr lang="en-CA" sz="1100" dirty="0"/>
          </a:p>
          <a:p>
            <a:r>
              <a:rPr lang="en-CA" sz="1100" dirty="0" smtClean="0">
                <a:solidFill>
                  <a:srgbClr val="000000"/>
                </a:solidFill>
                <a:latin typeface="Arial" panose="020B0604020202020204" pitchFamily="34" charset="0"/>
              </a:rPr>
              <a:t>   No</a:t>
            </a:r>
            <a:r>
              <a:rPr lang="en-CA" sz="1100" dirty="0">
                <a:solidFill>
                  <a:srgbClr val="000000"/>
                </a:solidFill>
                <a:latin typeface="Arial" panose="020B0604020202020204" pitchFamily="34" charset="0"/>
              </a:rPr>
              <a:t>, thanks.</a:t>
            </a:r>
            <a:endParaRPr lang="en-CA" sz="11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59137"/>
              </p:ext>
            </p:extLst>
          </p:nvPr>
        </p:nvGraphicFramePr>
        <p:xfrm>
          <a:off x="685442" y="6130936"/>
          <a:ext cx="5331124" cy="1226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5562"/>
                <a:gridCol w="2665562"/>
              </a:tblGrid>
              <a:tr h="250185">
                <a:tc>
                  <a:txBody>
                    <a:bodyPr/>
                    <a:lstStyle/>
                    <a:p>
                      <a:pPr algn="ctr"/>
                      <a:r>
                        <a:rPr lang="en-CA" sz="1000" b="1" dirty="0" smtClean="0"/>
                        <a:t>Short U Sound</a:t>
                      </a:r>
                      <a:endParaRPr lang="en-CA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b="1" dirty="0" smtClean="0"/>
                        <a:t>NOT Short u Sound</a:t>
                      </a:r>
                      <a:endParaRPr lang="en-CA" sz="1000" b="1" dirty="0"/>
                    </a:p>
                  </a:txBody>
                  <a:tcPr>
                    <a:solidFill>
                      <a:srgbClr val="A6A6A6"/>
                    </a:solidFill>
                  </a:tcPr>
                </a:tc>
              </a:tr>
              <a:tr h="976060">
                <a:tc>
                  <a:txBody>
                    <a:bodyPr/>
                    <a:lstStyle/>
                    <a:p>
                      <a:endParaRPr lang="en-CA" sz="1000" dirty="0" smtClean="0"/>
                    </a:p>
                    <a:p>
                      <a:endParaRPr lang="en-CA" sz="1000" dirty="0" smtClean="0"/>
                    </a:p>
                    <a:p>
                      <a:endParaRPr lang="en-CA" sz="1000" dirty="0" smtClean="0"/>
                    </a:p>
                    <a:p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8189" y="7583209"/>
            <a:ext cx="536563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l</a:t>
            </a:r>
            <a:r>
              <a:rPr lang="en-CA" sz="1100" dirty="0" smtClean="0"/>
              <a:t>ineup, sure, couple cute, cup, Thursday,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08234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b="1" dirty="0" smtClean="0"/>
              <a:t>cup </a:t>
            </a:r>
            <a:r>
              <a:rPr lang="en-CA" dirty="0" smtClean="0"/>
              <a:t>(</a:t>
            </a:r>
            <a:r>
              <a:rPr lang="en-CA" dirty="0"/>
              <a:t>noun</a:t>
            </a:r>
            <a:r>
              <a:rPr lang="en-CA" dirty="0" smtClean="0"/>
              <a:t>): </a:t>
            </a:r>
            <a:r>
              <a:rPr lang="en-CA" dirty="0"/>
              <a:t>a container to hold liquid </a:t>
            </a:r>
            <a:br>
              <a:rPr lang="en-CA" dirty="0"/>
            </a:br>
            <a:r>
              <a:rPr lang="en-CA" dirty="0" smtClean="0"/>
              <a:t>e.g. Do </a:t>
            </a:r>
            <a:r>
              <a:rPr lang="en-CA" dirty="0"/>
              <a:t>you like your cappuccino in a cup or a mug? </a:t>
            </a:r>
          </a:p>
          <a:p>
            <a:r>
              <a:rPr lang="en-CA" b="1" dirty="0"/>
              <a:t>mug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a large cup</a:t>
            </a:r>
            <a:br>
              <a:rPr lang="en-CA" dirty="0"/>
            </a:br>
            <a:r>
              <a:rPr lang="en-CA" dirty="0" smtClean="0"/>
              <a:t>e.g. I </a:t>
            </a:r>
            <a:r>
              <a:rPr lang="en-CA" dirty="0"/>
              <a:t>use a mug for my coffee in the morning. </a:t>
            </a:r>
            <a:r>
              <a:rPr lang="en-CA" dirty="0" smtClean="0"/>
              <a:t> </a:t>
            </a:r>
            <a:endParaRPr lang="en-CA" dirty="0"/>
          </a:p>
          <a:p>
            <a:r>
              <a:rPr lang="en-CA" b="1" dirty="0" err="1"/>
              <a:t>lineup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people waiting in a line to be served </a:t>
            </a:r>
            <a:br>
              <a:rPr lang="en-CA" dirty="0"/>
            </a:br>
            <a:r>
              <a:rPr lang="en-CA" dirty="0" smtClean="0"/>
              <a:t>e.g. There </a:t>
            </a:r>
            <a:r>
              <a:rPr lang="en-CA" dirty="0"/>
              <a:t>is a long </a:t>
            </a:r>
            <a:r>
              <a:rPr lang="en-CA" dirty="0" err="1"/>
              <a:t>lineup</a:t>
            </a:r>
            <a:r>
              <a:rPr lang="en-CA" dirty="0"/>
              <a:t>. </a:t>
            </a:r>
          </a:p>
          <a:p>
            <a:r>
              <a:rPr lang="en-CA" b="1" dirty="0"/>
              <a:t>hungry</a:t>
            </a:r>
            <a:r>
              <a:rPr lang="en-CA" dirty="0"/>
              <a:t> (adjective</a:t>
            </a:r>
            <a:r>
              <a:rPr lang="en-CA" dirty="0" smtClean="0"/>
              <a:t>): </a:t>
            </a:r>
            <a:r>
              <a:rPr lang="en-CA" dirty="0"/>
              <a:t>feeling the need to eat </a:t>
            </a:r>
            <a:br>
              <a:rPr lang="en-CA" dirty="0"/>
            </a:br>
            <a:r>
              <a:rPr lang="en-CA" dirty="0" smtClean="0"/>
              <a:t>e.g. </a:t>
            </a:r>
            <a:r>
              <a:rPr lang="en-CA" dirty="0"/>
              <a:t>I’m not hungry.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CA" b="1" dirty="0"/>
              <a:t>dad </a:t>
            </a:r>
            <a:r>
              <a:rPr lang="en-CA" dirty="0"/>
              <a:t>(noun</a:t>
            </a:r>
            <a:r>
              <a:rPr lang="en-CA" dirty="0" smtClean="0"/>
              <a:t>): </a:t>
            </a:r>
            <a:r>
              <a:rPr lang="en-CA" dirty="0"/>
              <a:t>father </a:t>
            </a:r>
            <a:br>
              <a:rPr lang="en-CA" dirty="0"/>
            </a:br>
            <a:r>
              <a:rPr lang="en-CA" dirty="0" err="1" smtClean="0"/>
              <a:t>e.g.My</a:t>
            </a:r>
            <a:r>
              <a:rPr lang="en-CA" dirty="0" smtClean="0"/>
              <a:t> </a:t>
            </a:r>
            <a:r>
              <a:rPr lang="en-CA" dirty="0"/>
              <a:t>dad really likes sports</a:t>
            </a:r>
            <a:r>
              <a:rPr lang="en-CA" dirty="0" smtClean="0"/>
              <a:t>.</a:t>
            </a:r>
            <a:endParaRPr lang="en-CA" dirty="0"/>
          </a:p>
          <a:p>
            <a:r>
              <a:rPr lang="en-CA" b="1" dirty="0"/>
              <a:t>mom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mother</a:t>
            </a:r>
            <a:br>
              <a:rPr lang="en-CA" dirty="0"/>
            </a:br>
            <a:r>
              <a:rPr lang="en-CA" dirty="0" smtClean="0"/>
              <a:t>e.g. </a:t>
            </a:r>
            <a:r>
              <a:rPr lang="en-CA" dirty="0"/>
              <a:t>My mom doesn’t like it when my dad watches football on TV. </a:t>
            </a:r>
          </a:p>
          <a:p>
            <a:r>
              <a:rPr lang="en-CA" b="1" dirty="0"/>
              <a:t>sports</a:t>
            </a:r>
            <a:r>
              <a:rPr lang="en-CA" dirty="0"/>
              <a:t> (noun</a:t>
            </a:r>
            <a:r>
              <a:rPr lang="en-CA" dirty="0" smtClean="0"/>
              <a:t>): </a:t>
            </a:r>
            <a:r>
              <a:rPr lang="en-CA" dirty="0"/>
              <a:t>an organized game </a:t>
            </a:r>
            <a:br>
              <a:rPr lang="en-CA" dirty="0"/>
            </a:br>
            <a:r>
              <a:rPr lang="en-CA" dirty="0" smtClean="0"/>
              <a:t>e.g. </a:t>
            </a:r>
            <a:r>
              <a:rPr lang="en-CA" dirty="0"/>
              <a:t>Does your family like sports? </a:t>
            </a:r>
            <a:r>
              <a:rPr lang="en-CA" dirty="0" smtClean="0"/>
              <a:t> </a:t>
            </a:r>
            <a:endParaRPr lang="en-CA" dirty="0"/>
          </a:p>
          <a:p>
            <a:r>
              <a:rPr lang="en-CA" b="1" dirty="0" err="1"/>
              <a:t>favorite</a:t>
            </a:r>
            <a:r>
              <a:rPr lang="en-CA" b="1" dirty="0"/>
              <a:t> </a:t>
            </a:r>
            <a:r>
              <a:rPr lang="en-CA" dirty="0"/>
              <a:t>(adjective</a:t>
            </a:r>
            <a:r>
              <a:rPr lang="en-CA" dirty="0" smtClean="0"/>
              <a:t>): </a:t>
            </a:r>
            <a:r>
              <a:rPr lang="en-CA" dirty="0"/>
              <a:t>the most liked </a:t>
            </a:r>
            <a:br>
              <a:rPr lang="en-CA" dirty="0"/>
            </a:br>
            <a:r>
              <a:rPr lang="en-CA" dirty="0" smtClean="0"/>
              <a:t>e.g. It’s </a:t>
            </a:r>
            <a:r>
              <a:rPr lang="en-CA" dirty="0"/>
              <a:t>my </a:t>
            </a:r>
            <a:r>
              <a:rPr lang="en-CA" dirty="0" err="1"/>
              <a:t>favorite</a:t>
            </a:r>
            <a:r>
              <a:rPr lang="en-CA" dirty="0"/>
              <a:t> sport. </a:t>
            </a:r>
          </a:p>
          <a:p>
            <a:endParaRPr lang="en-CA" dirty="0"/>
          </a:p>
        </p:txBody>
      </p:sp>
      <p:sp>
        <p:nvSpPr>
          <p:cNvPr id="7" name="Rectangle 6"/>
          <p:cNvSpPr/>
          <p:nvPr/>
        </p:nvSpPr>
        <p:spPr>
          <a:xfrm>
            <a:off x="1840316" y="209034"/>
            <a:ext cx="3021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Are You Going Too? All These Choices</a:t>
            </a:r>
            <a:endParaRPr lang="en-US" sz="1000" dirty="0"/>
          </a:p>
        </p:txBody>
      </p:sp>
      <p:grpSp>
        <p:nvGrpSpPr>
          <p:cNvPr id="24" name="Grupo 1"/>
          <p:cNvGrpSpPr/>
          <p:nvPr/>
        </p:nvGrpSpPr>
        <p:grpSpPr>
          <a:xfrm>
            <a:off x="3346450" y="2592546"/>
            <a:ext cx="3143249" cy="2112321"/>
            <a:chOff x="3448051" y="2431712"/>
            <a:chExt cx="2904574" cy="1941774"/>
          </a:xfrm>
        </p:grpSpPr>
        <p:grpSp>
          <p:nvGrpSpPr>
            <p:cNvPr id="25" name="Group 5"/>
            <p:cNvGrpSpPr/>
            <p:nvPr/>
          </p:nvGrpSpPr>
          <p:grpSpPr>
            <a:xfrm>
              <a:off x="5563165" y="2633412"/>
              <a:ext cx="663970" cy="1510299"/>
              <a:chOff x="5563165" y="6424728"/>
              <a:chExt cx="663970" cy="1510299"/>
            </a:xfrm>
          </p:grpSpPr>
          <p:sp>
            <p:nvSpPr>
              <p:cNvPr id="28" name="Shape 193"/>
              <p:cNvSpPr/>
              <p:nvPr/>
            </p:nvSpPr>
            <p:spPr>
              <a:xfrm>
                <a:off x="5578901" y="6424728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Y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es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Shape 194"/>
              <p:cNvSpPr/>
              <p:nvPr/>
            </p:nvSpPr>
            <p:spPr>
              <a:xfrm>
                <a:off x="5929667" y="6448291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N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o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Shape 200"/>
              <p:cNvSpPr/>
              <p:nvPr/>
            </p:nvSpPr>
            <p:spPr>
              <a:xfrm>
                <a:off x="5563165" y="6786597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1" name="Shape 201"/>
              <p:cNvSpPr/>
              <p:nvPr/>
            </p:nvSpPr>
            <p:spPr>
              <a:xfrm>
                <a:off x="5911690" y="6767449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" name="Shape 202"/>
              <p:cNvSpPr/>
              <p:nvPr/>
            </p:nvSpPr>
            <p:spPr>
              <a:xfrm>
                <a:off x="5563166" y="7207610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3" name="Shape 203"/>
              <p:cNvSpPr/>
              <p:nvPr/>
            </p:nvSpPr>
            <p:spPr>
              <a:xfrm>
                <a:off x="5957896" y="7175981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4" name="Shape 204"/>
              <p:cNvSpPr/>
              <p:nvPr/>
            </p:nvSpPr>
            <p:spPr>
              <a:xfrm>
                <a:off x="5563166" y="7665027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5" name="Shape 205"/>
              <p:cNvSpPr/>
              <p:nvPr/>
            </p:nvSpPr>
            <p:spPr>
              <a:xfrm>
                <a:off x="5957896" y="7651083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26" name="Shape 225"/>
            <p:cNvSpPr/>
            <p:nvPr/>
          </p:nvSpPr>
          <p:spPr>
            <a:xfrm>
              <a:off x="3498257" y="2506168"/>
              <a:ext cx="2199526" cy="186731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685800">
                <a:buSzPct val="100000"/>
              </a:pPr>
              <a:r>
                <a: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Self </a:t>
              </a:r>
              <a:r>
                <a:rPr lang="en-US" sz="11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Assessment</a:t>
              </a:r>
            </a:p>
            <a:p>
              <a:pPr algn="l" defTabSz="685800">
                <a:buSzPct val="100000"/>
              </a:pPr>
              <a:endPara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endParaRPr>
            </a:p>
            <a:p>
              <a:pPr fontAlgn="base"/>
              <a:r>
                <a:rPr lang="en-CA" sz="1100" dirty="0"/>
                <a:t>I say each </a:t>
              </a:r>
              <a:r>
                <a:rPr lang="en-CA" sz="1100" dirty="0" smtClean="0"/>
                <a:t>word and sentence in the table.</a:t>
              </a:r>
            </a:p>
            <a:p>
              <a:pPr fontAlgn="base"/>
              <a:endParaRPr lang="en-CA" sz="1100" dirty="0"/>
            </a:p>
            <a:p>
              <a:pPr fontAlgn="base"/>
              <a:r>
                <a:rPr lang="en-CA" sz="1100" dirty="0" smtClean="0"/>
                <a:t>I </a:t>
              </a:r>
              <a:r>
                <a:rPr lang="en-CA" sz="1100" dirty="0"/>
                <a:t>make a list of 5 new </a:t>
              </a:r>
              <a:r>
                <a:rPr lang="en-CA" sz="1100" dirty="0" smtClean="0"/>
                <a:t>words that use </a:t>
              </a:r>
              <a:r>
                <a:rPr lang="en-CA" sz="1100" dirty="0" smtClean="0"/>
                <a:t>this sound.</a:t>
              </a:r>
              <a:endParaRPr lang="en-CA" sz="1100" dirty="0" smtClean="0"/>
            </a:p>
            <a:p>
              <a:pPr fontAlgn="base"/>
              <a:endParaRPr lang="en-CA" sz="1100" dirty="0"/>
            </a:p>
            <a:p>
              <a:pPr fontAlgn="base"/>
              <a:r>
                <a:rPr lang="en-CA" sz="1100" dirty="0"/>
                <a:t>I use a </a:t>
              </a:r>
              <a:r>
                <a:rPr lang="en-CA" sz="1100" dirty="0" smtClean="0"/>
                <a:t>dictionary to find the definitions of new vocabulary.</a:t>
              </a:r>
              <a:endParaRPr lang="en-CA" sz="1100" dirty="0"/>
            </a:p>
            <a:p>
              <a:pPr algn="l" defTabSz="685800">
                <a:buSzPct val="100000"/>
              </a:pPr>
              <a:endPara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endParaRPr>
            </a:p>
            <a:p>
              <a:pPr algn="l" defTabSz="685800">
                <a:buSzPct val="100000"/>
              </a:pPr>
              <a:endPara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/>
                <a:cs typeface="Verdana"/>
              </a:endParaRPr>
            </a:p>
          </p:txBody>
        </p:sp>
        <p:sp>
          <p:nvSpPr>
            <p:cNvPr id="27" name="Rounded Rectangle 6"/>
            <p:cNvSpPr/>
            <p:nvPr/>
          </p:nvSpPr>
          <p:spPr>
            <a:xfrm>
              <a:off x="3448051" y="2431712"/>
              <a:ext cx="2904574" cy="1888630"/>
            </a:xfrm>
            <a:prstGeom prst="roundRect">
              <a:avLst>
                <a:gd name="adj" fmla="val 11375"/>
              </a:avLst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38" name="Rectangle 3"/>
          <p:cNvSpPr/>
          <p:nvPr/>
        </p:nvSpPr>
        <p:spPr>
          <a:xfrm>
            <a:off x="474193" y="1571223"/>
            <a:ext cx="6062878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Taking It Further - Practicing Short Vowel Sounds</a:t>
            </a:r>
            <a:endParaRPr lang="en-US" sz="1000" dirty="0">
              <a:latin typeface="Verdana"/>
              <a:cs typeface="Verdana"/>
            </a:endParaRPr>
          </a:p>
          <a:p>
            <a:pPr algn="l" rtl="0"/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Instructions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CA" sz="1000" dirty="0"/>
              <a:t>With a </a:t>
            </a:r>
            <a:r>
              <a:rPr lang="en-CA" sz="1000" dirty="0" smtClean="0"/>
              <a:t>partner,</a:t>
            </a:r>
            <a:r>
              <a:rPr lang="en-CA" sz="1000" dirty="0"/>
              <a:t> </a:t>
            </a:r>
            <a:r>
              <a:rPr lang="en-CA" sz="1000" dirty="0" smtClean="0"/>
              <a:t>say </a:t>
            </a:r>
            <a:r>
              <a:rPr lang="en-CA" sz="1000" dirty="0"/>
              <a:t>these short </a:t>
            </a:r>
            <a:r>
              <a:rPr lang="en-CA" sz="1000" dirty="0"/>
              <a:t>u</a:t>
            </a:r>
            <a:r>
              <a:rPr lang="en-CA" sz="1000" dirty="0" smtClean="0"/>
              <a:t> words and sentences aloud</a:t>
            </a:r>
            <a:r>
              <a:rPr lang="en-CA" sz="1000" dirty="0"/>
              <a:t>.</a:t>
            </a:r>
          </a:p>
          <a:p>
            <a:pPr fontAlgn="base"/>
            <a:r>
              <a:rPr lang="en-CA" sz="1000" dirty="0"/>
              <a:t>Write </a:t>
            </a:r>
            <a:r>
              <a:rPr lang="en-CA" sz="1000"/>
              <a:t>down </a:t>
            </a:r>
            <a:r>
              <a:rPr lang="en-CA" sz="1000" smtClean="0"/>
              <a:t>5 </a:t>
            </a:r>
            <a:r>
              <a:rPr lang="en-CA" sz="1000" dirty="0"/>
              <a:t>new </a:t>
            </a:r>
            <a:r>
              <a:rPr lang="en-CA" sz="1000" dirty="0" smtClean="0"/>
              <a:t>short u </a:t>
            </a:r>
            <a:r>
              <a:rPr lang="en-CA" sz="1000" dirty="0"/>
              <a:t>words </a:t>
            </a:r>
            <a:r>
              <a:rPr lang="en-CA" sz="1000" dirty="0" smtClean="0"/>
              <a:t>and </a:t>
            </a:r>
            <a:r>
              <a:rPr lang="en-CA" sz="1000" dirty="0" smtClean="0"/>
              <a:t>use the words in a sentence.</a:t>
            </a:r>
            <a:endParaRPr lang="en-CA" sz="1000" dirty="0"/>
          </a:p>
          <a:p>
            <a:pPr fontAlgn="base"/>
            <a:r>
              <a:rPr lang="en-CA" sz="1000" dirty="0"/>
              <a:t>Use a </a:t>
            </a:r>
            <a:r>
              <a:rPr lang="en-CA" sz="1000" dirty="0" smtClean="0"/>
              <a:t>dictionary if necessary.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steps. Fill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the Self Assessment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215460"/>
              </p:ext>
            </p:extLst>
          </p:nvPr>
        </p:nvGraphicFramePr>
        <p:xfrm>
          <a:off x="572130" y="2551397"/>
          <a:ext cx="2536372" cy="2189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8186"/>
                <a:gridCol w="1268186"/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Short U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Sentence</a:t>
                      </a:r>
                      <a:endParaRPr lang="en-CA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cut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I cut my hand</a:t>
                      </a:r>
                      <a:endParaRPr lang="en-CA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rug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I sit on the rug.</a:t>
                      </a:r>
                      <a:endParaRPr lang="en-CA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bugs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There a lots</a:t>
                      </a:r>
                      <a:r>
                        <a:rPr lang="en-CA" sz="1100" baseline="0" dirty="0" smtClean="0"/>
                        <a:t> of bugs in the garden.</a:t>
                      </a:r>
                      <a:endParaRPr lang="en-CA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jug</a:t>
                      </a:r>
                      <a:endParaRPr lang="en-CA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The jug is full</a:t>
                      </a:r>
                      <a:r>
                        <a:rPr lang="en-CA" sz="1100" baseline="0" dirty="0" smtClean="0"/>
                        <a:t> of water.</a:t>
                      </a:r>
                      <a:endParaRPr lang="en-CA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8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469900" y="1725080"/>
            <a:ext cx="5226050" cy="412750"/>
          </a:xfrm>
        </p:spPr>
        <p:txBody>
          <a:bodyPr/>
          <a:lstStyle/>
          <a:p>
            <a:r>
              <a:rPr lang="en-CA" b="1" dirty="0"/>
              <a:t>Falling and Rising Voice in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76934" y="2186479"/>
            <a:ext cx="5642512" cy="609600"/>
          </a:xfrm>
        </p:spPr>
        <p:txBody>
          <a:bodyPr/>
          <a:lstStyle/>
          <a:p>
            <a:r>
              <a:rPr lang="en-CA" b="1" dirty="0"/>
              <a:t>Falling </a:t>
            </a:r>
            <a:r>
              <a:rPr lang="en-CA" b="1" dirty="0" smtClean="0"/>
              <a:t>Intonation</a:t>
            </a:r>
          </a:p>
          <a:p>
            <a:endParaRPr lang="en-CA" dirty="0"/>
          </a:p>
          <a:p>
            <a:r>
              <a:rPr lang="en-CA" dirty="0"/>
              <a:t>When you ask a question with </a:t>
            </a:r>
            <a:r>
              <a:rPr lang="en-CA" b="1" dirty="0"/>
              <a:t>where, when, what, which, why, what </a:t>
            </a:r>
            <a:r>
              <a:rPr lang="en-CA" dirty="0"/>
              <a:t>or </a:t>
            </a:r>
            <a:r>
              <a:rPr lang="en-CA" b="1" dirty="0"/>
              <a:t>how</a:t>
            </a:r>
            <a:r>
              <a:rPr lang="en-CA" dirty="0"/>
              <a:t>, your voice falls at the end. </a:t>
            </a:r>
          </a:p>
          <a:p>
            <a:endParaRPr lang="en-CA" b="1" dirty="0" smtClean="0"/>
          </a:p>
          <a:p>
            <a:r>
              <a:rPr lang="en-CA" b="1" dirty="0" smtClean="0"/>
              <a:t>Rising </a:t>
            </a:r>
            <a:r>
              <a:rPr lang="en-CA" b="1" dirty="0"/>
              <a:t>Intonation </a:t>
            </a:r>
            <a:endParaRPr lang="en-CA" b="1" dirty="0" smtClean="0"/>
          </a:p>
          <a:p>
            <a:endParaRPr lang="en-CA" b="1" dirty="0" smtClean="0"/>
          </a:p>
          <a:p>
            <a:r>
              <a:rPr lang="en-CA" dirty="0"/>
              <a:t>If the question is a yes/no question, the voice rises at the end</a:t>
            </a:r>
            <a:r>
              <a:rPr lang="en-CA" dirty="0" smtClean="0"/>
              <a:t>.</a:t>
            </a:r>
          </a:p>
          <a:p>
            <a:endParaRPr lang="en-CA" dirty="0"/>
          </a:p>
          <a:p>
            <a:r>
              <a:rPr lang="en-CA" dirty="0" smtClean="0"/>
              <a:t>The </a:t>
            </a:r>
            <a:r>
              <a:rPr lang="en-CA" dirty="0"/>
              <a:t>stress is usually placed on the last word in questions</a:t>
            </a:r>
            <a:r>
              <a:rPr lang="en-CA" dirty="0" smtClean="0"/>
              <a:t>. </a:t>
            </a:r>
          </a:p>
          <a:p>
            <a:endParaRPr lang="en-CA" dirty="0"/>
          </a:p>
          <a:p>
            <a:r>
              <a:rPr lang="en-CA" dirty="0" smtClean="0"/>
              <a:t>Examples;</a:t>
            </a:r>
          </a:p>
          <a:p>
            <a:r>
              <a:rPr lang="en-CA" dirty="0" smtClean="0"/>
              <a:t>Are </a:t>
            </a:r>
            <a:r>
              <a:rPr lang="en-CA" dirty="0"/>
              <a:t>you going the </a:t>
            </a:r>
            <a:r>
              <a:rPr lang="en-CA" b="1" dirty="0" smtClean="0"/>
              <a:t>game</a:t>
            </a:r>
            <a:r>
              <a:rPr lang="en-CA" dirty="0" smtClean="0"/>
              <a:t>?</a:t>
            </a:r>
          </a:p>
          <a:p>
            <a:r>
              <a:rPr lang="en-CA" dirty="0" smtClean="0"/>
              <a:t>When </a:t>
            </a:r>
            <a:r>
              <a:rPr lang="en-CA" dirty="0"/>
              <a:t>does it </a:t>
            </a:r>
            <a:r>
              <a:rPr lang="en-CA" b="1" dirty="0" smtClean="0"/>
              <a:t>start</a:t>
            </a:r>
            <a:r>
              <a:rPr lang="en-CA" dirty="0" smtClean="0"/>
              <a:t>?</a:t>
            </a:r>
          </a:p>
          <a:p>
            <a:endParaRPr lang="en-CA" b="1" dirty="0" smtClean="0"/>
          </a:p>
          <a:p>
            <a:r>
              <a:rPr lang="en-CA" b="1" dirty="0" smtClean="0"/>
              <a:t>Examples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CA" b="1" i="1" dirty="0" smtClean="0"/>
              <a:t>Sally</a:t>
            </a:r>
            <a:r>
              <a:rPr lang="en-CA" i="1" dirty="0"/>
              <a:t>: What about you?</a:t>
            </a:r>
            <a:br>
              <a:rPr lang="en-CA" i="1" dirty="0"/>
            </a:br>
            <a:r>
              <a:rPr lang="en-CA" b="1" i="1" dirty="0"/>
              <a:t>Peter</a:t>
            </a:r>
            <a:r>
              <a:rPr lang="en-CA" i="1" dirty="0"/>
              <a:t>: I like tennis. It’s my </a:t>
            </a:r>
            <a:r>
              <a:rPr lang="en-CA" i="1" dirty="0" err="1"/>
              <a:t>favorite</a:t>
            </a:r>
            <a:r>
              <a:rPr lang="en-CA" i="1" dirty="0"/>
              <a:t> sport.</a:t>
            </a:r>
            <a:endParaRPr lang="en-CA" dirty="0"/>
          </a:p>
          <a:p>
            <a:pPr marL="171450" indent="-171450">
              <a:buFont typeface="Arial" pitchFamily="34" charset="0"/>
              <a:buChar char="•"/>
            </a:pPr>
            <a:r>
              <a:rPr lang="en-CA" b="1" i="1" dirty="0"/>
              <a:t>Sally</a:t>
            </a:r>
            <a:r>
              <a:rPr lang="en-CA" i="1" dirty="0" smtClean="0"/>
              <a:t>: Does </a:t>
            </a:r>
            <a:r>
              <a:rPr lang="en-CA" i="1" dirty="0"/>
              <a:t>your family like sports?</a:t>
            </a:r>
            <a:br>
              <a:rPr lang="en-CA" i="1" dirty="0"/>
            </a:br>
            <a:r>
              <a:rPr lang="en-CA" b="1" i="1" dirty="0"/>
              <a:t>Peter</a:t>
            </a:r>
            <a:r>
              <a:rPr lang="en-CA" i="1" dirty="0"/>
              <a:t>: Yes, my father really likes sports.</a:t>
            </a:r>
            <a:endParaRPr lang="en-CA" dirty="0"/>
          </a:p>
          <a:p>
            <a:endParaRPr lang="en-CA" b="1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 smtClean="0"/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840316" y="209034"/>
            <a:ext cx="30213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Are You Going Too? All These Choices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42891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=""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</TotalTime>
  <Words>537</Words>
  <Application>Microsoft Office PowerPoint</Application>
  <PresentationFormat>On-screen Show (4:3)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Helvetica</vt:lpstr>
      <vt:lpstr>Helvetica Neue</vt:lpstr>
      <vt:lpstr>Myriad Pro</vt:lpstr>
      <vt:lpstr>Myriad Pro Semibold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Anne-Louise Power</cp:lastModifiedBy>
  <cp:revision>142</cp:revision>
  <cp:lastPrinted>2015-07-16T15:48:24Z</cp:lastPrinted>
  <dcterms:created xsi:type="dcterms:W3CDTF">2015-07-06T14:08:02Z</dcterms:created>
  <dcterms:modified xsi:type="dcterms:W3CDTF">2015-08-07T14:17:39Z</dcterms:modified>
</cp:coreProperties>
</file>